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78" r:id="rId4"/>
    <p:sldId id="261" r:id="rId5"/>
    <p:sldId id="281" r:id="rId6"/>
    <p:sldId id="263" r:id="rId7"/>
    <p:sldId id="264" r:id="rId8"/>
    <p:sldId id="265" r:id="rId9"/>
    <p:sldId id="296" r:id="rId10"/>
    <p:sldId id="266" r:id="rId11"/>
    <p:sldId id="297" r:id="rId12"/>
    <p:sldId id="267" r:id="rId13"/>
    <p:sldId id="282" r:id="rId14"/>
    <p:sldId id="283" r:id="rId15"/>
    <p:sldId id="298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3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276" r:id="rId33"/>
    <p:sldId id="295" r:id="rId34"/>
    <p:sldId id="259" r:id="rId35"/>
    <p:sldId id="294" r:id="rId36"/>
  </p:sldIdLst>
  <p:sldSz cx="12192000" cy="6858000"/>
  <p:notesSz cx="6858000" cy="9144000"/>
  <p:embeddedFontLst>
    <p:embeddedFont>
      <p:font typeface="Libre Baskerville" panose="02000000000000000000" pitchFamily="2" charset="0"/>
      <p:regular r:id="rId38"/>
      <p:bold r:id="rId39"/>
      <p:italic r:id="rId40"/>
    </p:embeddedFont>
  </p:embeddedFontLst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</p:sldLst>
    </p:custShow>
  </p:custShow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91" d="100"/>
          <a:sy n="91" d="100"/>
        </p:scale>
        <p:origin x="413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LA AKHIL" userId="9545ca8784b3f00a" providerId="LiveId" clId="{8B13C98F-3134-4305-8426-0CA423FD515E}"/>
    <pc:docChg chg="modSld">
      <pc:chgData name="GOLLA AKHIL" userId="9545ca8784b3f00a" providerId="LiveId" clId="{8B13C98F-3134-4305-8426-0CA423FD515E}" dt="2026-02-14T07:57:03.322" v="4" actId="1362"/>
      <pc:docMkLst>
        <pc:docMk/>
      </pc:docMkLst>
      <pc:sldChg chg="modSp mod">
        <pc:chgData name="GOLLA AKHIL" userId="9545ca8784b3f00a" providerId="LiveId" clId="{8B13C98F-3134-4305-8426-0CA423FD515E}" dt="2026-02-14T07:57:03.322" v="4" actId="1362"/>
        <pc:sldMkLst>
          <pc:docMk/>
          <pc:sldMk cId="0" sldId="256"/>
        </pc:sldMkLst>
        <pc:picChg chg="mod">
          <ac:chgData name="GOLLA AKHIL" userId="9545ca8784b3f00a" providerId="LiveId" clId="{8B13C98F-3134-4305-8426-0CA423FD515E}" dt="2026-02-14T07:57:03.322" v="4" actId="1362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GOLLA AKHIL" userId="9545ca8784b3f00a" providerId="LiveId" clId="{8B13C98F-3134-4305-8426-0CA423FD515E}" dt="2026-02-13T15:56:16.810" v="3" actId="20577"/>
        <pc:sldMkLst>
          <pc:docMk/>
          <pc:sldMk cId="1926531273" sldId="280"/>
        </pc:sldMkLst>
        <pc:spChg chg="mod">
          <ac:chgData name="GOLLA AKHIL" userId="9545ca8784b3f00a" providerId="LiveId" clId="{8B13C98F-3134-4305-8426-0CA423FD515E}" dt="2026-02-13T15:56:16.810" v="3" actId="20577"/>
          <ac:spMkLst>
            <pc:docMk/>
            <pc:sldMk cId="1926531273" sldId="280"/>
            <ac:spMk id="4" creationId="{E1B9929B-C357-D27B-49AE-F42136576B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khilyadav25/" TargetMode="External"/><Relationship Id="rId2" Type="http://schemas.openxmlformats.org/officeDocument/2006/relationships/hyperlink" Target="https://github.com/akhilyadav2502-stac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E4FB14-EA91-DCE2-19C1-EF7583F3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2966890" y="3645859"/>
            <a:ext cx="807676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094680" y="4826225"/>
            <a:ext cx="1000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Flipkart Mobiles Data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83541-AE9D-F2B9-A03C-82DA8FF9895B}"/>
              </a:ext>
            </a:extLst>
          </p:cNvPr>
          <p:cNvSpPr txBox="1"/>
          <p:nvPr/>
        </p:nvSpPr>
        <p:spPr>
          <a:xfrm>
            <a:off x="3823727" y="3969619"/>
            <a:ext cx="7124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Mobiles </a:t>
            </a:r>
            <a:r>
              <a:rPr lang="en-IN" sz="3600" b="1" dirty="0">
                <a:solidFill>
                  <a:schemeClr val="accent4">
                    <a:lumMod val="75000"/>
                  </a:schemeClr>
                </a:solidFill>
              </a:rPr>
              <a:t>Scrapping</a:t>
            </a:r>
          </a:p>
          <a:p>
            <a:endParaRPr lang="en-IN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1269625"/>
            <a:ext cx="10742724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 am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Akhil Yadav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Postgraduate with a strong passion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is Swamy B-tech with a strong passion for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Skilled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real-world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Experienced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 and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Continuously learning to enhance expertise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-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https://github.com/akhilyadav2502-stack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LINKEDIN -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https://www.linkedin.com/in/akhilyadav25/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177" y="1191670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03" y="564733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D7281EA-369C-693C-BD01-E486C6AD2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4898" y="1720840"/>
            <a:ext cx="787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smartphones from top brands like Apple, Samsung, Xiaomi, Vivo, and Realme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detailed specifications, ratings, and customer reviews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pricing with discounts and exchange offers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1FE6B3-C726-B3AD-CB4F-670B14D60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725474" y="1367275"/>
            <a:ext cx="3073236" cy="323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" y="585820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04980" y="6587901"/>
            <a:ext cx="7793879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6CE0F-DDA4-D16E-530C-62AD3B052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398859" y="1541250"/>
            <a:ext cx="3073236" cy="323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5B71DC02-3117-4199-5D32-1DF6653E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75579"/>
            <a:ext cx="609600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High-rated mobiles within budget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smartphone market on Flipkart contains multiple brands with varying specifications and pricing.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struggle to identify: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brand offers better value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performance relationship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features like battery, processor, and ratings impact price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3835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and compare Mobile Features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Price , Brand, Processor , Storage ,Camera Quality , Ram and  ratings insights from Flipkart..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consumers to make proper decisions based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mobiles.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trends across different segments in Mobile.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40671" y="1280672"/>
            <a:ext cx="515532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Mobile was selected as the data source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developer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(Inspect Element) to locate relevant HTML tags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 Soup and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data from Flipkart.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fetch web pages.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66973-A731-344F-B10C-0C26F8D0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1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580" y="0"/>
            <a:ext cx="12267159" cy="684068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Uncleaned Dataset: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E02AF-BC45-8642-8676-7AA17351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754"/>
            <a:ext cx="12192000" cy="593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7" y="131735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22CF49-24EC-C8DD-017B-468FF3478D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2510" y="776425"/>
            <a:ext cx="10599174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and handled missing values using is null() to ensure data completeness.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 using duplicated() to avoid biased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text-based columns like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Battery, and Ratings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proper numeric format for accurate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treated outliers in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column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the IQR method to reduce extreme value impact.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 and ensured correct data types for smooth EDA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DE051E-2514-E071-BEBB-276B4E85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097"/>
            <a:ext cx="12192000" cy="5162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A1E58A-8522-2F6B-6FAD-4865AC5297A0}"/>
              </a:ext>
            </a:extLst>
          </p:cNvPr>
          <p:cNvSpPr txBox="1"/>
          <p:nvPr/>
        </p:nvSpPr>
        <p:spPr>
          <a:xfrm>
            <a:off x="0" y="117987"/>
            <a:ext cx="11857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</a:t>
            </a:r>
          </a:p>
        </p:txBody>
      </p:sp>
    </p:spTree>
    <p:extLst>
      <p:ext uri="{BB962C8B-B14F-4D97-AF65-F5344CB8AC3E}">
        <p14:creationId xmlns:p14="http://schemas.microsoft.com/office/powerpoint/2010/main" val="179946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4014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78659" y="1448624"/>
            <a:ext cx="65679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 leads in total listed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Samsung and Redmi, showing strong marketplace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Mid-tier brands like IQOO, Vivo, and Motorola show moderate representation.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Long-tail distribution observed among smaller brands.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 is highly competitive but dominated by a few key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 appears aggressively positioned in Flipkart listings.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D2F0A-CB86-CBA8-4CC5-5541EC4A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799" y="1183171"/>
            <a:ext cx="563220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491613" y="1351508"/>
            <a:ext cx="540294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price distribution is positively skewed (right-skewed).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mobile phones fall within the ₹5,000 – ₹30,000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products are priced above ₹60,000.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extreme values going up to ₹1.5 Lakhs+.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 of products in the budget and mid-range segment.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76370-7F10-5C98-D519-C4ADB212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69357"/>
            <a:ext cx="5890770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363200" y="1322480"/>
            <a:ext cx="540294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price lies around ₹15,000 – ₹20,000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 (IQR) is concentrated in lower price bands.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outliers detected above ₹60,000.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outliers extend beyond ₹1,00,000+.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represent premium flagship brands (Apple, high-end Vivo, Motorola models).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outliers may improve predictive model performance if target is mass market.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FF51C-F0E0-AA8F-2BCD-B4F66D45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56" y="1322480"/>
            <a:ext cx="558594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6F8F5-6049-836D-F870-F42F2429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94" y="1292942"/>
            <a:ext cx="5427406" cy="5565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8E219-2107-3162-1D57-981938B74192}"/>
              </a:ext>
            </a:extLst>
          </p:cNvPr>
          <p:cNvSpPr txBox="1"/>
          <p:nvPr/>
        </p:nvSpPr>
        <p:spPr>
          <a:xfrm>
            <a:off x="88490" y="1292942"/>
            <a:ext cx="631231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mostly priced between ₹59,000 – ₹69,999.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contributing to outliers: Apple , Motorola , Vivo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processors observed: Snapdragon 8 Gen 5,A16 Bionic Chip ,Dimensity 9400+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phones maintain high ratings (4.5 – 4.7).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range between 7% – 25%.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camera mostly 50MP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Warranty: 1 Year (standardized across premium models).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phones maintain: High ratings ,Powerful processors ,Competitive discounts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CB253-DA9C-116B-A4F1-9C56C460C8E1}"/>
              </a:ext>
            </a:extLst>
          </p:cNvPr>
          <p:cNvSpPr txBox="1"/>
          <p:nvPr/>
        </p:nvSpPr>
        <p:spPr>
          <a:xfrm>
            <a:off x="226142" y="240523"/>
            <a:ext cx="12167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40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75CAD-1E1B-F447-802D-9FF27DCEEEAF}"/>
              </a:ext>
            </a:extLst>
          </p:cNvPr>
          <p:cNvSpPr txBox="1"/>
          <p:nvPr/>
        </p:nvSpPr>
        <p:spPr>
          <a:xfrm>
            <a:off x="216310" y="1536174"/>
            <a:ext cx="64892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price is somewhere near the middle of the box, suggesting that most of the mobile prices are evenly distributed around the center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consistent range in mobile prices, as shown by the whiskers. There’s no indication of extreme high or low prices (no outliers), which means the price distribution is relatively stable.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color of the box emphasizes that most of the mobile prices fall within a reasonable range, without any dramatic price spikes or drops.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61F36-FF5B-322F-7A0A-1DE0B061B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78" y="1272353"/>
            <a:ext cx="5151566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F5D73-9438-374C-2CD9-92C838053E30}"/>
              </a:ext>
            </a:extLst>
          </p:cNvPr>
          <p:cNvSpPr txBox="1"/>
          <p:nvPr/>
        </p:nvSpPr>
        <p:spPr>
          <a:xfrm>
            <a:off x="0" y="929423"/>
            <a:ext cx="695140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dominates the premium mobile market with the highest number of expensive models, showing 12 models in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follows with 7 high-priced models, significantly fewer than Apple but still a strong contender in the premium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OPPO, OnePlus, and Motorola each have 4 to 5 expensive models, indicating a more limited presence in the high-end price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clearly highlights the dominance of Apple in terms of the number of high-priced phones, far ahead of other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yellow bars visually emphasize the significant difference between Apple and the other brands in the high-end mobile segment.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40C37-92AF-1B67-D9F7-1797C891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7" y="929423"/>
            <a:ext cx="5402943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0" y="1248739"/>
            <a:ext cx="626061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A18 Chip and Dimensity 6300 Processor are the most common processors, each accounting for 27.6% of the market share.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Dimensity 8450 Processor holds 17.2% of the share, indicating its significant, though smaller,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A19 Chip and Snapdragon 8 Gen 5 Processor each contribute 13.8% of the share, showing a smaller but notable presence in the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provides a clear visual representation of the market distribution among the top five mobile processors, with A18 and Dimensity 6300 leading the way.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799F7-0718-93F8-6BD2-4AA11DE7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615" y="1500299"/>
            <a:ext cx="5936149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1B98C-36DD-1030-763D-766FCDBA9E17}"/>
              </a:ext>
            </a:extLst>
          </p:cNvPr>
          <p:cNvSpPr txBox="1"/>
          <p:nvPr/>
        </p:nvSpPr>
        <p:spPr>
          <a:xfrm>
            <a:off x="-2" y="662062"/>
            <a:ext cx="7236543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Price vs Battery Capacity: The chart shows the relationship between mobile price and battery capacity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As the battery capacity increases, prices tend to spike, especially for higher capacities around 4000mAh.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Sharp Price Increase: A significant price surge is observed around the 4000mAh battery range, indicating that mobiles with higher battery capacity tend to have significantly higher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Fluctuating Trend: After the sharp price increase, the chart shows price fluctuations, especially as battery capacity continues to rise, suggesting that other factors also influence price at higher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Decreasing Trend at Higher Capacities: For mobile batteries above 6000mAh, the price tends to decrease or stabilize, indicating that larger batteries don’t always correlate with higher prices beyond a certain 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37794-534F-F45E-2CFB-544E9588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6" y="1165938"/>
            <a:ext cx="5112774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DA78F-BD5C-9EC8-C098-C05D7761A9C3}"/>
              </a:ext>
            </a:extLst>
          </p:cNvPr>
          <p:cNvSpPr txBox="1"/>
          <p:nvPr/>
        </p:nvSpPr>
        <p:spPr>
          <a:xfrm>
            <a:off x="0" y="1225689"/>
            <a:ext cx="66564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a negative correlation between price and ratings. As the price increases, the ratings tend to decrease slightly, especially for the higher-priced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High-Rating Concentration: Most phones with high ratings (4.0 and above) are concentrated in the lower price range, indicating that many affordable mobiles have good customer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Outliers: A few phones with extremely high prices (over ₹100,000) have relatively lower ratings, which could indicate that higher prices do not always guarantee better customer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Saturation: Beyond a certain price point (₹60,000), there are fewer phones with high ratings, suggesting diminishing returns in terms of customer satisfaction as the price rises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1BB7A-550F-2CEC-816D-1A66C03B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9" y="1143842"/>
            <a:ext cx="5535562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9F69-AE06-2596-25E3-9599EFAFCE0B}"/>
              </a:ext>
            </a:extLst>
          </p:cNvPr>
          <p:cNvSpPr txBox="1"/>
          <p:nvPr/>
        </p:nvSpPr>
        <p:spPr>
          <a:xfrm>
            <a:off x="0" y="1225689"/>
            <a:ext cx="63319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Leads: Motorola has the highest average battery capacity, with around 6000 Mah, indicating its strong focus on offering long-lasting battery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Samsung and OPPO: Samsung and OPPO have similar battery capacities, each around 5000 Mah, providing good battery performance but slightly lower than Motorola.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OnePlus: OnePlus comes close to Motorola, with a battery capacity near 5500 Mah, showing strong performance, though slightly lower than Motorola’s.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Apple: Apple has the lowest average battery capacity among the top 5 brands, with around 4000 Mah, reflecting its typical design trade-offs for performance, but still offering competitive battery life.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80C56-00E9-5053-6BD8-1BAF069E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023" y="1425252"/>
            <a:ext cx="5966977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8D7F5-86EB-026A-C8B3-D862C9E02CF8}"/>
              </a:ext>
            </a:extLst>
          </p:cNvPr>
          <p:cNvSpPr txBox="1"/>
          <p:nvPr/>
        </p:nvSpPr>
        <p:spPr>
          <a:xfrm>
            <a:off x="117987" y="1414659"/>
            <a:ext cx="666627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Motorola Leads in Ratings: Motorola has the highest average rating, just above 4.5, indicating strong customer satisfaction with its mobile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and OPPO: Both Samsung and OPPO have similar ratings, slightly below 4.5, showing that these brands are also highly rated by customers but slightly behind Motorola.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OnePlus and Apple: OnePlus and Apple have very close ratings, both near 4.4, indicating strong performance and customer satisfaction, though slightly lower than Motorola and Samsung/OPPO.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Bars: The error bars indicate the variability in ratings across models within each brand, showing some differences in how individual devices perform in terms of user feedback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60D94-8A13-C5F2-7164-1A79664D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21" y="1236736"/>
            <a:ext cx="552497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108155" y="1338968"/>
            <a:ext cx="7432926" cy="573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Premium Pricing: Apple has the highest average price, exceeding ₹80,000, indicating that Apple mobiles are positioned in the premium price segment.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Brands' Prices: Motorola, Samsung, OPPO, and OnePlus have significantly lower average prices, ranging from around ₹20,000 to ₹40,000, suggesting these brands cater to more mid-range and affordable price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Bars: The error bars represent the variability in prices within each brand, showing that there's some fluctuation in mobile prices for each brand, with Apple having a wider range.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Range Distribution: While all brands have their price ranges, Apple clearly stands out as the most expensive, while other brands, like Motorola and OPPO, are more affordable, offering a mix of budget and mid-range options.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5670B-A5CB-E7FC-32A7-EC2A91BA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70" y="1279974"/>
            <a:ext cx="4759075" cy="4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3626"/>
            <a:ext cx="5402943" cy="595731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7AF65-3901-0BB9-4EB3-70E37ADAA8A0}"/>
              </a:ext>
            </a:extLst>
          </p:cNvPr>
          <p:cNvSpPr txBox="1"/>
          <p:nvPr/>
        </p:nvSpPr>
        <p:spPr>
          <a:xfrm>
            <a:off x="0" y="1225689"/>
            <a:ext cx="679409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Distribution: The chart shows the distribution of mobile processors used by the top five mobile brands: Motorola, Samsung, Apple, OnePlus, and OPPO.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Processors: The Helio G81, Dimensity 6300, and Dimensity 7400 processors appear frequently, suggesting that many mid-range and budget phones use these chipsets.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Dominance: Apple primarily uses its proprietary A15 Bionic Chip and A16 Bionic Chip, which appear prominently in the chart, indicating Apple’s focus on high-performance, in-house processors.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Variety: Samsung, Motorola, and OPPO have a more diverse set of processors, with Snapdragon and Exynos chips being used across different models, showing a range of options for different price points and performance levels.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D520F-892A-CB8A-92C8-7970BC26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1" y="1384107"/>
            <a:ext cx="5397909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1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9E24-2A61-371D-925F-55A124C76632}"/>
              </a:ext>
            </a:extLst>
          </p:cNvPr>
          <p:cNvSpPr txBox="1">
            <a:spLocks/>
          </p:cNvSpPr>
          <p:nvPr/>
        </p:nvSpPr>
        <p:spPr>
          <a:xfrm>
            <a:off x="-245806" y="-55836"/>
            <a:ext cx="5402943" cy="59573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9E2DA-CB75-30CA-25E8-820F8325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" y="539895"/>
            <a:ext cx="11779045" cy="3814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6F04D5-EC85-B67E-D0FC-10D3191CEB99}"/>
              </a:ext>
            </a:extLst>
          </p:cNvPr>
          <p:cNvSpPr txBox="1"/>
          <p:nvPr/>
        </p:nvSpPr>
        <p:spPr>
          <a:xfrm>
            <a:off x="117986" y="4354811"/>
            <a:ext cx="11661058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the distribution of warranty types across different mobile brands. The warranty types include 1 Year, Up to 6 Months, and No Warranty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Most 1-Year Warranty: realme, Motorola, and iQOO have the highest number of mobile models offering a 1-year warranty, indicating these brands typically provide standard warranty periods.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Longer Warranties: MOTOROLA stands out with some models offering a warranty longer than 1 year, reflecting a commitment to customer confidence in their products.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No Warranty: Some brands, such as Jmax and Kechaoda, have models with no warranty, which may indicate either budget-friendly pricing or more limited customer support.</a:t>
            </a:r>
          </a:p>
        </p:txBody>
      </p:sp>
    </p:spTree>
    <p:extLst>
      <p:ext uri="{BB962C8B-B14F-4D97-AF65-F5344CB8AC3E}">
        <p14:creationId xmlns:p14="http://schemas.microsoft.com/office/powerpoint/2010/main" val="3890473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904D-46D1-170B-9727-A7FD9B6BC794}"/>
              </a:ext>
            </a:extLst>
          </p:cNvPr>
          <p:cNvSpPr txBox="1">
            <a:spLocks/>
          </p:cNvSpPr>
          <p:nvPr/>
        </p:nvSpPr>
        <p:spPr>
          <a:xfrm>
            <a:off x="0" y="196645"/>
            <a:ext cx="5402943" cy="59573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418D6-6725-DD94-E0F6-FA87322A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08" y="1161853"/>
            <a:ext cx="4542503" cy="4534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6B7684-86B2-5AC4-3A7F-30AAB145942C}"/>
              </a:ext>
            </a:extLst>
          </p:cNvPr>
          <p:cNvSpPr txBox="1"/>
          <p:nvPr/>
        </p:nvSpPr>
        <p:spPr>
          <a:xfrm>
            <a:off x="0" y="986738"/>
            <a:ext cx="783631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50MP Cameras Dominate: The chart shows that the majority of mobiles from Motorola, Samsung, OPPO, OnePlus, and Apple have 50MP rear cameras, with Motorola leading in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Dominance: Motorola stands out significantly, with the highest number of models featuring 50MP cameras, indicating its strong focus on high-resolution camera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Camera Resolutions: There are fewer phones with 13MP and 0.3MP rear cameras across the brands, with only a few models featuring these lower resolutions, mainly from OPPO and OnePlus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High-Quality Cameras: Most of the top brands prioritize higher-resolution rear cameras, with 50MPbecoming the most common, showing a market trend toward better camera performance in mid-range and premium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highlights the focus of top mobile brands on providing high-quality cameras, particularly with a 50MP resolution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9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F8A020-7673-CACF-AF52-B532E67D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07886"/>
            <a:ext cx="9783097" cy="3539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3951D1-5D31-798A-853D-132C703B0189}"/>
              </a:ext>
            </a:extLst>
          </p:cNvPr>
          <p:cNvSpPr txBox="1"/>
          <p:nvPr/>
        </p:nvSpPr>
        <p:spPr>
          <a:xfrm>
            <a:off x="0" y="4022363"/>
            <a:ext cx="12103510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Discount Distribution: The chart shows the price range of mobiles against their discount percentages across four top brands: Motorola, Samsung, OPPO, and Apple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Pricing and Discount: Motorola offers mobiles with lower prices (around ₹10,000 to ₹30,000) and relatively higher discounts (up to 50%), making it the most affordable brand with substantial discounts.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Samsung's Mid-Range: Samsung offers mobiles with a wide range of prices (₹20,000 to ₹80,000) and moderate discounts, with discounts typically between 10-30%.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High Prices with Lower Discounts: Apple has higher-priced models (often over ₹80,000), but it offers smaller discounts (around 5-10%), indicating a premium pricing strategy with limited discounting.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F441D-2FEA-CD4D-62B0-AB5BE579F4C5}"/>
              </a:ext>
            </a:extLst>
          </p:cNvPr>
          <p:cNvSpPr txBox="1"/>
          <p:nvPr/>
        </p:nvSpPr>
        <p:spPr>
          <a:xfrm>
            <a:off x="-685801" y="0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249002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55EC3-CB95-C8EF-A4BB-755CF223B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0" y="609600"/>
            <a:ext cx="7964129" cy="3401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69B3E-34A9-1F50-9A75-59FB1396678D}"/>
              </a:ext>
            </a:extLst>
          </p:cNvPr>
          <p:cNvSpPr txBox="1"/>
          <p:nvPr/>
        </p:nvSpPr>
        <p:spPr>
          <a:xfrm>
            <a:off x="186813" y="3854245"/>
            <a:ext cx="11818374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Camera Resolutions: The chart shows a focus on 50MP cameras, especially for both front and back cameras, with many mobile models featuring combinations like 50MP + 50MP + 50MP or 50MP + 12MP + 8MP.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Samsung's Camera Range: Samsung offers a variety of camera configurations, including models with high-quality 50MP back cameras, often paired with 8MP to 16MP front cameras, making it prominent in mid-to-high-range camera setups.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Camera Focus: Motorola is leading with 50MP back cameras, often coupled with decent front cameras like 8MP or 16MP, catering to both high-quality photos and balanced performance.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and OPPO: Apple and OPPO use a combination of high-resolution back cameras, like 200MP or 50MP, with front cameras ranging from 12MP to 50MP, focusing on strong rear cameras while keeping front camera resolutions competitive.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360CB-7C38-2BC4-A275-129672A9AE0F}"/>
              </a:ext>
            </a:extLst>
          </p:cNvPr>
          <p:cNvSpPr txBox="1"/>
          <p:nvPr/>
        </p:nvSpPr>
        <p:spPr>
          <a:xfrm>
            <a:off x="-717756" y="1082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819403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15A84-8637-5AD5-C7F5-9129A7AE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3" y="760837"/>
            <a:ext cx="9045679" cy="3099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BB0A5-CD7C-5375-CEC3-F5537F28BF6E}"/>
              </a:ext>
            </a:extLst>
          </p:cNvPr>
          <p:cNvSpPr txBox="1"/>
          <p:nvPr/>
        </p:nvSpPr>
        <p:spPr>
          <a:xfrm>
            <a:off x="96994" y="3913239"/>
            <a:ext cx="11937690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Warranty Distribution: The chart shows different mobile brands and their box warranty offerings, including 1 year, up to 6 months, and no warranty.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1-Year Warranty: Several brands, including realme, Motorola, iQOO, and OnePlus, provide 1-year warranty on their mobile devices, which is standard for most mobile phones.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Warranty: A few brands, such as Jmax and </a:t>
            </a:r>
            <a:r>
              <a:rPr lang="en-US" dirty="0" err="1"/>
              <a:t>BlackZone</a:t>
            </a:r>
            <a:r>
              <a:rPr lang="en-US" dirty="0"/>
              <a:t>, offer no warranty on their mobile phones, indicating budget-oriented or region-specific sales strategies.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Short-Term Warranty: Brands like OPPO and Samsung feature phones with up to 6 months warranty, suggesting either limited-time offers or shorter-term product guarantees for specific markets or mode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9F14E-FC60-1D7D-6678-8AD6EA21FCC8}"/>
              </a:ext>
            </a:extLst>
          </p:cNvPr>
          <p:cNvSpPr txBox="1"/>
          <p:nvPr/>
        </p:nvSpPr>
        <p:spPr>
          <a:xfrm>
            <a:off x="-865239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509160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E5931-9ED5-475E-C80C-36BD22F6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4" y="707923"/>
            <a:ext cx="8882625" cy="3431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0CA36-E0DF-F5FB-A886-6B8FE0C6EF69}"/>
              </a:ext>
            </a:extLst>
          </p:cNvPr>
          <p:cNvSpPr txBox="1"/>
          <p:nvPr/>
        </p:nvSpPr>
        <p:spPr>
          <a:xfrm>
            <a:off x="0" y="4070555"/>
            <a:ext cx="12083845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Storage Distribution: The chart shows the relationship between mobile prices and  storage capacities  for different brands: Motorola, Samsung, OPPO, and Apple.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High Price and Storage: Apple mobiles are priced  higher  (up to ₹150,000) and come with  larger storage capacities  (up to 500GB), which aligns with their premium positioning in the market.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and Samsung's Price Range: Motorola and Samsung offer affordable to mid-range mobiles with lower storage options, mostly in the range of  64GB to 128GB storage, priced around ₹10,000 to ₹40,000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OPPO's Mid-Range Offering: OPPO offers mobiles with moderate pricing (around ₹20,000 to ₹50,000), feat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F4492-87A5-72AB-1B6C-55EC28900CC6}"/>
              </a:ext>
            </a:extLst>
          </p:cNvPr>
          <p:cNvSpPr txBox="1"/>
          <p:nvPr/>
        </p:nvSpPr>
        <p:spPr>
          <a:xfrm>
            <a:off x="-848034" y="37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934699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3E3B4-3927-8EAD-7A37-FB306AD79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981" y="998009"/>
            <a:ext cx="4395019" cy="48619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C93498-924C-14D0-D7A7-C69464CED876}"/>
              </a:ext>
            </a:extLst>
          </p:cNvPr>
          <p:cNvSpPr txBox="1"/>
          <p:nvPr/>
        </p:nvSpPr>
        <p:spPr>
          <a:xfrm>
            <a:off x="0" y="917912"/>
            <a:ext cx="806245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Between Price and Original Price: There is a very strong correlation (0.87) between price and original price, suggesting that the mobile's retail price is closely related to its original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Ratings Correlation: The price has a moderate positive correlation (0.62) with ratings, indicating that higher-priced mobiles tend to have better user ratings, but the relationship is not extremely strong.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Price Correlation: Storage has a moderate positive correlation (0.56) with price, implying that higher storage capacities are often found in more expensive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and Display Size Correlation: Battery capacity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display inches both show moderate positive correlations (0.64), suggesting that larger displays are often paired with larger battery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visually represents how different variables, such as price, ratings, battery, and storage, correlate with each other, highlighting key relationships in mobile pricing and features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9D96D-A3EF-587E-E6D3-CB624F8AFDD3}"/>
              </a:ext>
            </a:extLst>
          </p:cNvPr>
          <p:cNvSpPr txBox="1"/>
          <p:nvPr/>
        </p:nvSpPr>
        <p:spPr>
          <a:xfrm>
            <a:off x="-722671" y="0"/>
            <a:ext cx="6125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781629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0287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C3BE92-B48B-2A1D-F16A-C9FECDDF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9360"/>
            <a:ext cx="11975691" cy="603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900+ mobile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strong dominance of budget &amp; mid-range segment (₹5,000–₹30,000).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 in total listings, indicating strong marketplace presence.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segment is limited but led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high pricing and strong brand positioning.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positively skewed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few high-end flagship outliers above ₹60,000.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50MP cameras and 5000–6000mAh batteries have become standard features in mid-range phones.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correlation observed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storage, and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structured pricing strategy.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segment-based market positioning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visible across brands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462115"/>
            <a:ext cx="7346950" cy="77152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7224C5-28B7-7EE8-34EA-5814746E9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6" y="1417260"/>
            <a:ext cx="984209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Extracted large datasets from dynamic web pages using Python (Beautiful Soup, Requests).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Faced challenges with inconsistent data formats and missing values during cleaning.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Automated scraping process to handle multiple pages and reduce time.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Structured raw HTML data into a clean Pandas Data Frame for analysis.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Addressed inconsistent data formats during preprocessing.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and cleaned noisy data to ensure accurate EDA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2942</Words>
  <Application>Microsoft Office PowerPoint</Application>
  <PresentationFormat>Widescreen</PresentationFormat>
  <Paragraphs>245</Paragraphs>
  <Slides>35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  <vt:variant>
        <vt:lpstr>Custom Shows</vt:lpstr>
      </vt:variant>
      <vt:variant>
        <vt:i4>1</vt:i4>
      </vt:variant>
    </vt:vector>
  </HeadingPairs>
  <TitlesOfParts>
    <vt:vector size="42" baseType="lpstr">
      <vt:lpstr>Libre Baskerville</vt:lpstr>
      <vt:lpstr>Arial</vt:lpstr>
      <vt:lpstr>Calibri</vt:lpstr>
      <vt:lpstr>Times New Roman</vt:lpstr>
      <vt:lpstr>Wingdings</vt:lpstr>
      <vt:lpstr>Office Theme</vt:lpstr>
      <vt:lpstr>PowerPoint Presentation</vt:lpstr>
      <vt:lpstr>About us:</vt:lpstr>
      <vt:lpstr>Preface:</vt:lpstr>
      <vt:lpstr>Introduction:</vt:lpstr>
      <vt:lpstr>Business Problem:</vt:lpstr>
      <vt:lpstr>Objectives:</vt:lpstr>
      <vt:lpstr>Tools Used:</vt:lpstr>
      <vt:lpstr>Web Scraping:</vt:lpstr>
      <vt:lpstr>Uncleaned Dataset:</vt:lpstr>
      <vt:lpstr>Data Cleaning Steps:</vt:lpstr>
      <vt:lpstr>PowerPoint Presentation</vt:lpstr>
      <vt:lpstr>Data Visualization:</vt:lpstr>
      <vt:lpstr>Data Visualization:</vt:lpstr>
      <vt:lpstr>Data Visualization:</vt:lpstr>
      <vt:lpstr>PowerPoint Presentation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Experiences &amp; Challenges: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GOLLA AKHIL</cp:lastModifiedBy>
  <cp:revision>40</cp:revision>
  <dcterms:created xsi:type="dcterms:W3CDTF">2021-02-16T05:19:01Z</dcterms:created>
  <dcterms:modified xsi:type="dcterms:W3CDTF">2026-02-14T07:57:14Z</dcterms:modified>
</cp:coreProperties>
</file>